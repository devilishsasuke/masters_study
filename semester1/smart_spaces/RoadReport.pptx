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Tomorrow" panose="020B0604020202020204" charset="0"/>
      <p:regular r:id="rId19"/>
    </p:embeddedFont>
    <p:embeddedFont>
      <p:font typeface="Tomorrow Semi Bold" panose="020B0604020202020204" charset="0"/>
      <p:regular r:id="rId2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9628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66988"/>
            <a:ext cx="7556421" cy="2480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39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RoadReport: Интеллектуальная система мониторинга дорожного покрытия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5344954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Плугин Олег 22503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12338"/>
            <a:ext cx="1202709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Основные функции (сервисы для пользователей)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728430"/>
            <a:ext cx="360616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Муниципальные службы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2179796"/>
            <a:ext cx="471713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Мониторинг состояния дорожной сети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268831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Интерактивная карта дефектов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307526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Уведомления о критичных разрушениях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346221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Прогнозирование потенциально опасных зон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3978116"/>
            <a:ext cx="461141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Формирование приоритетов ремонта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93790" y="4486632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Доступ к дашборду с проблемами и прогнозируемыми затратами ресурсов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93790" y="519112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Автоматическая сортировка по степени критичности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3790" y="557807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Оценка риска разрушения в ближайшее время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3790" y="6093976"/>
            <a:ext cx="419385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Управление дронами наблюдения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93790" y="660249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Настройка маршрутов и частоты облета дронов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93790" y="698944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Возможность внепланового запуска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564874" y="1728430"/>
            <a:ext cx="324695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Водители и пешеходы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564874" y="2179796"/>
            <a:ext cx="589549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Получение информации о проблемных участках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564874" y="268831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Карта дефектов и проблемных участков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564874" y="307526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Построение маршрута с обходом проблемных участков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564874" y="3591163"/>
            <a:ext cx="494288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Возможность создания заявки о дефекте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7564874" y="4099679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Фиксация дефекта с помощью фото или видео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564874" y="448663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Привязка по GPS-координатам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564874" y="5002530"/>
            <a:ext cx="6279356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Оповещения о значимых изменениях состояния дорог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7564874" y="5821204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Предупреждения 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564874" y="620815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о ямах и разрушениях для водителей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564874" y="6595110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о проблемах с тротуаром, возможных местах скопления воды для пешеходов, велосипедистов, иных мобильных ТС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644" y="724019"/>
            <a:ext cx="2411611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Описание системы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771644" y="1218367"/>
            <a:ext cx="4545687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RoadReport</a:t>
            </a:r>
            <a:r>
              <a:rPr lang="en-US" sz="15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система мониторинга состояния дорожного покрытия в реальном времени.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1644" y="2211705"/>
            <a:ext cx="4545687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Использует данные от автомобильных камер, дронов и метеостанций.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1644" y="2896433"/>
            <a:ext cx="4545687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С помощью компьютерного зрения выявляет, классифицирует и отслеживает дефекты дорог.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1644" y="3889772"/>
            <a:ext cx="4545687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Представляет результаты на интерактивной карте с актуальными статусами дефектов.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1644" y="4574500"/>
            <a:ext cx="4545687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Позволяет пользователям отправлять собственные сообщения и фотографии дефектов.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1644" y="5567839"/>
            <a:ext cx="4545687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Интегрируется с картографическими сервисами (2GIS, Яндекс.Карты) для удобного доступа..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795486" y="724019"/>
            <a:ext cx="2881193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Концептуальная модель</a:t>
            </a:r>
            <a:endParaRPr lang="en-US" sz="18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486" y="1242536"/>
            <a:ext cx="7521416" cy="62387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150858"/>
            <a:ext cx="8690967" cy="5431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805851"/>
            <a:ext cx="88494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4" name="Text 1"/>
          <p:cNvSpPr/>
          <p:nvPr/>
        </p:nvSpPr>
        <p:spPr>
          <a:xfrm>
            <a:off x="10134957" y="2234446"/>
            <a:ext cx="3709154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Архитектура системы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10134957" y="3672959"/>
            <a:ext cx="3709154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FFA44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■ - участники процесса / пользователи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0134957" y="4645462"/>
            <a:ext cx="3709154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04C8E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■ - главные компоненты системы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134957" y="5617964"/>
            <a:ext cx="3709154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1F7135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■ - агенты системы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733" y="866061"/>
            <a:ext cx="12055316" cy="562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Построение сервисов взаимодействующими агентами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19733" y="1877973"/>
            <a:ext cx="4105275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Сценарий 1. Автомобильный агент фиксирует дефект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9733" y="2732484"/>
            <a:ext cx="4105275" cy="115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Автомобильный агент</a:t>
            </a:r>
            <a:r>
              <a:rPr lang="en-US" sz="14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выполняет предварительную обработку изображения с камеры (выделение потенциальных дефектов)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9733" y="3946446"/>
            <a:ext cx="4105275" cy="863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При подключении к интернету кадры с дефектами и телеметрия отправляются в </a:t>
            </a:r>
            <a:r>
              <a:rPr lang="en-US" sz="14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Облачную систему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9733" y="4872633"/>
            <a:ext cx="4105275" cy="115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Font typeface="+mj-lt"/>
              <a:buAutoNum type="arabicPeriod" startAt="3"/>
            </a:pPr>
            <a:r>
              <a:rPr lang="en-US" sz="14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Агент аналитики</a:t>
            </a:r>
            <a:r>
              <a:rPr lang="en-US" sz="14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данных выполняет обнаружение дефекта, его классификацию, сравнение с предыдущими результатами по данному дефекту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9733" y="6086594"/>
            <a:ext cx="4105275" cy="57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Font typeface="+mj-lt"/>
              <a:buAutoNum type="arabicPeriod" startAt="4"/>
            </a:pPr>
            <a:r>
              <a:rPr lang="en-US" sz="14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Агент аналитики</a:t>
            </a:r>
            <a:r>
              <a:rPr lang="en-US" sz="14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обновляет интерактивную карту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9733" y="6725007"/>
            <a:ext cx="4105275" cy="57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Font typeface="+mj-lt"/>
              <a:buAutoNum type="arabicPeriod" startAt="5"/>
            </a:pPr>
            <a:r>
              <a:rPr lang="en-US" sz="14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Агент приложения</a:t>
            </a:r>
            <a:r>
              <a:rPr lang="en-US" sz="14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предоставляет доступ к обновленной информации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71492" y="1877973"/>
            <a:ext cx="4103846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Сценарий 2. Дрон выполняет разведку дороги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271492" y="2732484"/>
            <a:ext cx="4103846" cy="57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Агент дрона</a:t>
            </a:r>
            <a:r>
              <a:rPr lang="en-US" sz="14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получает от облачной системы маршрут полета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71492" y="3370897"/>
            <a:ext cx="4103846" cy="57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Дрон выполняет съемку участка дороги с воздуха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71492" y="4009311"/>
            <a:ext cx="4103846" cy="57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По возвращении на базу снимки передаются в </a:t>
            </a:r>
            <a:r>
              <a:rPr lang="en-US" sz="14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Облачную систему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71492" y="4647724"/>
            <a:ext cx="4103846" cy="863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Font typeface="+mj-lt"/>
              <a:buAutoNum type="arabicPeriod" startAt="4"/>
            </a:pPr>
            <a:r>
              <a:rPr lang="en-US" sz="14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Агент аналитики</a:t>
            </a:r>
            <a:r>
              <a:rPr lang="en-US" sz="14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данных анализирует фотографии, определяя новые дефекты и просчитывает динамику разрушений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71492" y="5573911"/>
            <a:ext cx="4103846" cy="863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Интерактивная карта обновляется, предоставляя доступ к данным через </a:t>
            </a:r>
            <a:r>
              <a:rPr lang="en-US" sz="14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Агент приложения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821823" y="1877973"/>
            <a:ext cx="4103846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Сценарий 3. Пользователь сообщает о дефекте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821823" y="2732484"/>
            <a:ext cx="4103846" cy="863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Пользователь отправляет фото и координаты дефекта через </a:t>
            </a:r>
            <a:r>
              <a:rPr lang="en-US" sz="14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Агент приложения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821823" y="3658672"/>
            <a:ext cx="4103846" cy="57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Изображение и описание поступают в </a:t>
            </a:r>
            <a:r>
              <a:rPr lang="en-US" sz="14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Облачную систему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821823" y="4297085"/>
            <a:ext cx="4103846" cy="1438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Font typeface="+mj-lt"/>
              <a:buAutoNum type="arabicPeriod" startAt="3"/>
            </a:pPr>
            <a:r>
              <a:rPr lang="en-US" sz="14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Агент аналитики</a:t>
            </a:r>
            <a:r>
              <a:rPr lang="en-US" sz="14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данных производит обнаружение и классификацию дефекта, а затем добавляет информацию на интерактивную карту, которая отображается в </a:t>
            </a:r>
            <a:r>
              <a:rPr lang="en-US" sz="14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Агенте приложения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1245" y="822484"/>
            <a:ext cx="6453187" cy="519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Аппаратура и близкие решения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151245" y="1757363"/>
            <a:ext cx="3218378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Используемая аппаратура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151245" y="2135386"/>
            <a:ext cx="2597944" cy="259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Аппаратура автомобилей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151245" y="2561273"/>
            <a:ext cx="3704392" cy="53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Видеокамера для анализа дорожного полотна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151245" y="3151108"/>
            <a:ext cx="3704392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GPS/ГЛОНАСС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51245" y="3475077"/>
            <a:ext cx="3704392" cy="53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Мобильный компьютер для предобработки изображений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51245" y="4064913"/>
            <a:ext cx="3704392" cy="53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Периодическое подключение к интернету не реже 1 раза в день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51245" y="4762857"/>
            <a:ext cx="2077760" cy="259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Дроны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151245" y="5188744"/>
            <a:ext cx="3704392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Видеокамера для фиксации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151245" y="5512713"/>
            <a:ext cx="3704392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Автопилот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51245" y="5836682"/>
            <a:ext cx="3704392" cy="79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Возможность передачи данных до прибытия на базовую станцию для экстренных случаев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268783" y="1757363"/>
            <a:ext cx="3467457" cy="259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Инфраструктура сервера и облака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268783" y="2183249"/>
            <a:ext cx="3704392" cy="53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Видеокарты для обработки нейронными сетями и прогнозирования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268783" y="2773085"/>
            <a:ext cx="3704392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Система хранения данных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268783" y="3097054"/>
            <a:ext cx="3704392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База данных дефектов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268783" y="3421023"/>
            <a:ext cx="3704392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API для агентов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268783" y="3853101"/>
            <a:ext cx="3054906" cy="259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Пользовательские устройства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268783" y="4278987"/>
            <a:ext cx="3704392" cy="53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Десктопное приложение для муниципальных служб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268783" y="4868823"/>
            <a:ext cx="3704392" cy="53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Мобильное и веб-приложение интерактивной карты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268783" y="5566767"/>
            <a:ext cx="3047762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Существующие решения</a:t>
            </a:r>
            <a:endParaRPr lang="en-US" sz="1950" dirty="0"/>
          </a:p>
        </p:txBody>
      </p:sp>
      <p:sp>
        <p:nvSpPr>
          <p:cNvPr id="23" name="Text 20"/>
          <p:cNvSpPr/>
          <p:nvPr/>
        </p:nvSpPr>
        <p:spPr>
          <a:xfrm>
            <a:off x="10268783" y="6044565"/>
            <a:ext cx="3704392" cy="53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Яндекс.Пробки/Google Maps - анализ автомобильных пробок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268783" y="6725841"/>
            <a:ext cx="3704392" cy="53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RoadBotics США - анализ состояния дорог по видео от автомобилей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06001" y="759023"/>
            <a:ext cx="6835140" cy="484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Системные возможности и масштаб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106001" y="1630323"/>
            <a:ext cx="3363039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Интеллектуальность системы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106001" y="2075736"/>
            <a:ext cx="3763447" cy="991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Автоматическое распознавание дефектов с помощью нейросетей и компьютерного зрения для определения типа, размера и критичности дефекта.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106001" y="3120985"/>
            <a:ext cx="3763447" cy="743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Отслеживание динамики состояния дороги во времени — система хранит предыдущие состояния для оценки изменений.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106001" y="3918466"/>
            <a:ext cx="3763447" cy="991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Прогнозирование разрушения покрытия путем учета интенсивности потока транспорта, температуры, влажности, предыдущих фотографий отрезка дороги.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06001" y="4963716"/>
            <a:ext cx="3763447" cy="991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Формирование оптимальных ремонтных приоритетов путем вычисления приблизительного расхода ресурсов на каждый критический дефект.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254972" y="1630323"/>
            <a:ext cx="2954893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Размерность приложения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254972" y="1982748"/>
            <a:ext cx="1936433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Количество агентов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254972" y="2379583"/>
            <a:ext cx="3763447" cy="49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6 взаимосвязанных агентов, каждый выполняет специализированную роль.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254972" y="3030022"/>
            <a:ext cx="1936433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Пользователи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254972" y="3426857"/>
            <a:ext cx="3763447" cy="49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Муниципальные службы: 1 диспетчер на 1 млн населения.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254972" y="3976568"/>
            <a:ext cx="3763447" cy="49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Водители и пешеходы: 50-100 тыс. на 1 млн населения.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254972" y="4526280"/>
            <a:ext cx="3763447" cy="49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Автомобили-автопилоты: 1000-1500 автономных ТС на 1 млн населения.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254972" y="5176718"/>
            <a:ext cx="1936433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Объемы данных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254972" y="5573554"/>
            <a:ext cx="3763447" cy="49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Фиксация пешеходов: 5.000 фото на 1 млн населения → ≈10 Гб фото/день.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254972" y="6123265"/>
            <a:ext cx="3763447" cy="49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Дроны: 5 дронов на 100 км², 1 Гб с каждого → ≈5 Гб данных/день.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254972" y="6672977"/>
            <a:ext cx="3763447" cy="743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Автомобили: 450 тыс. автомобилей на 1 млн населения, половина оснащается агентом, 5 Мб с каждого → ≈1 Тб/день.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78" y="1857018"/>
            <a:ext cx="6009680" cy="41025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0678" y="6145292"/>
            <a:ext cx="7412831" cy="26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484037" y="1076325"/>
            <a:ext cx="5493187" cy="1032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Часть II. Детализация. Сценарий 1.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8484037" y="2273975"/>
            <a:ext cx="5493187" cy="52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Локальная модель нейросети производит предварительное распознавание дефектов на изображении с камер.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484037" y="2860119"/>
            <a:ext cx="5493187" cy="1585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При подключении к интернету происходит передача обработанных автомобильным агентом данных, собранных в единый пакет, который включает в себя изображение дефекта, совмещенное с телеметрией по протоколу HTTPS. Телеметрия включает в себя скорость, координаты, время, направление движения.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484037" y="4503063"/>
            <a:ext cx="5493187" cy="52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Полученные в интеллектуальном пространстве данные сохраняются в облачную систему.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84037" y="5089208"/>
            <a:ext cx="5493187" cy="1056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Font typeface="+mj-lt"/>
              <a:buAutoNum type="arabicPeriod" startAt="4"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В агенте анализа данных происходит точная сегментация дефекта, его классификация и расчет размеров. На основе этих и существующих данных об данном дефекте производится оценка критичности и прогнозирование дальнейшего роста дефекта.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84037" y="6203752"/>
            <a:ext cx="5493187" cy="1056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Font typeface="+mj-lt"/>
              <a:buAutoNum type="arabicPeriod" startAt="5"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Происходит создание записи о дефекте (или обновление существующей записи), изменяется состояние данного сегмента дороги, обновляется интерактивная карта, добавляя отображение обнаруженного дефекта.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31" y="1735931"/>
            <a:ext cx="6086118" cy="4339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9131" y="6263402"/>
            <a:ext cx="7400925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485823" y="1135261"/>
            <a:ext cx="5415796" cy="522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Детализация. Сценарий 2.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8485823" y="1825347"/>
            <a:ext cx="5482947" cy="53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Агент дрона получает все необходимые сведения о полёте: маршрут, высоту и угол съемки, частоту кадров, скорость.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485823" y="2419112"/>
            <a:ext cx="5482947" cy="80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Во время полёта происходит сбор таких данных, как изображения дорожного полотна с высоты, координаты, высота, скорость, направление камеры, время съемки.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485823" y="3280529"/>
            <a:ext cx="5482947" cy="80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По возвращении дрона на базу происходит его подключение к сети Интернет и передача собранных данных в интеллектуальное пространство по протоколу HTTPS.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85823" y="4141946"/>
            <a:ext cx="5482947" cy="53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Font typeface="+mj-lt"/>
              <a:buAutoNum type="arabicPeriod" startAt="4"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Полученные в интеллектуальном пространстве данные сохраняются в облачную систему.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85823" y="4735711"/>
            <a:ext cx="5482947" cy="1338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Font typeface="+mj-lt"/>
              <a:buAutoNum type="arabicPeriod" startAt="5"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В агенте анализа данных происходит точная сегментация дефекта, его классификация и расчет размеров. На основе этих и существующих данных об данном дефекте производится оценка критичности и прогнозирование дальнейшего роста дефекта.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85823" y="6132433"/>
            <a:ext cx="5482947" cy="1070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Font typeface="+mj-lt"/>
              <a:buAutoNum type="arabicPeriod" startAt="6"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Происходит создание записи о дефекте (или обновление существующей записи), изменяется состояние данного сегмента дороги, обновляется интерактивная карта, добавляя отображение обнаруженного дефекта.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587" y="1270159"/>
            <a:ext cx="5514856" cy="52532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7587" y="6719649"/>
            <a:ext cx="736103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8491776" y="766167"/>
            <a:ext cx="5448538" cy="1089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Детализация. Сценарий 3.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491776" y="2030373"/>
            <a:ext cx="5448538" cy="1395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Пользователь создает сообщение об дефекте: делает фотографию или короткое видео, подтверждает автоматически определённые координаты или указывает точку вручную. Имеется возможно добавить текстовое описание в сообщении.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491776" y="3486745"/>
            <a:ext cx="5448538" cy="83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Полученный набор данных дополняется временем сообщения и отправляется на проверку в интеллектуальное пространство.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491776" y="4384953"/>
            <a:ext cx="5448538" cy="55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Полученные в интеллектуальном пространстве данные сохраняются в облачную систему.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491776" y="5004078"/>
            <a:ext cx="5448538" cy="1395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Font typeface="+mj-lt"/>
              <a:buAutoNum type="arabicPeriod" startAt="4"/>
            </a:pPr>
            <a:r>
              <a:rPr lang="en-US" sz="13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В агенте анализа данных происходит точная сегментация дефекта, его классификация и расчет размеров. На основе этих и существующих данных об данном дефекте производится оценка критичности и прогнозирование дальнейшего роста дефекта.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491776" y="6460450"/>
            <a:ext cx="5448538" cy="1116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Font typeface="+mj-lt"/>
              <a:buAutoNum type="arabicPeriod" startAt="5"/>
            </a:pPr>
            <a:r>
              <a:rPr lang="en-US" sz="13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Происходит создание записи о дефекте (или обновление существующей записи), изменяется состояние данного сегмента дороги, обновляется интерактивная карта, добавляя отображение обнаруженного дефекта.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70421" y="448389"/>
            <a:ext cx="7889558" cy="509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32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Общее информационное пространство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5585" y="1283970"/>
            <a:ext cx="9079111" cy="60557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2105" y="7523083"/>
            <a:ext cx="13326189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2139"/>
            <a:ext cx="683871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Анализ интеллектуальности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018467"/>
            <a:ext cx="709088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Фильтрация данных</a:t>
            </a:r>
            <a:r>
              <a:rPr lang="en-US" sz="15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: Система автоматически оценивает качество входящих изображений и отклоняет обработку нерелевантных или низкокачественных кадров. Используется в сценариях 1, 2.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040499"/>
            <a:ext cx="709088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Первичное распознавание дефектов:</a:t>
            </a:r>
            <a:r>
              <a:rPr lang="en-US" sz="15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На стороне устройств выполняется детекция потенциальных дефектов с определением границ, класса и уверенности. Используется в сценариях 1.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062532"/>
            <a:ext cx="709088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Точный анализ данных в агенте аналитики</a:t>
            </a:r>
            <a:r>
              <a:rPr lang="en-US" sz="15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: Поступающие изображения проходят точную сегментацию дефектов, финальную классификацию и оценку размеров. Используется в сценариях 1, 2, 3.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5084564"/>
            <a:ext cx="709088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Ведение истории и оценка динамики дефектов</a:t>
            </a:r>
            <a:r>
              <a:rPr lang="en-US" sz="15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: Система сравнивает новые наблюдения с существующими, обновляет состояние дефектов, определяет изменения размеров и прогнозирует дальнейшее разрушение покрытия. Используется в сценариях 1, 2, 3.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376404" y="2018467"/>
            <a:ext cx="5467707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Оценка достоверности пользовательских данных</a:t>
            </a:r>
            <a:r>
              <a:rPr lang="en-US" sz="15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: Сообщения от людей проходят проверку на соответствие координат и присутствие дефекта на изображении. Используется в сценариях 3.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376404" y="3358039"/>
            <a:ext cx="5467707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Дополнение данных внешней информацией</a:t>
            </a:r>
            <a:r>
              <a:rPr lang="en-US" sz="15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: К обнаруженным данным добавляются короткие актуальные погодные условия, которые влияют на интерпретацию дефектов и прогноз разрушений. Используется в сценариях 1, 2, 3.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376404" y="5015151"/>
            <a:ext cx="5467707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Интеграция данных с разных источников</a:t>
            </a:r>
            <a:r>
              <a:rPr lang="en-US" sz="15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: Система объединяет автомобильные данные, съемку с дронов и пользовательские сообщения, что позволяет сформировать актуальную картину состояния дорожной сети и отразить её на интерактивной карте. Используется в сценариях 1, 2, 3.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1292</Words>
  <Application>Microsoft Office PowerPoint</Application>
  <PresentationFormat>Произвольный</PresentationFormat>
  <Paragraphs>134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Calibri</vt:lpstr>
      <vt:lpstr>Arial</vt:lpstr>
      <vt:lpstr>Tomorrow Semi Bold</vt:lpstr>
      <vt:lpstr>Tomorrow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Oleg</cp:lastModifiedBy>
  <cp:revision>2</cp:revision>
  <dcterms:created xsi:type="dcterms:W3CDTF">2025-12-15T00:40:33Z</dcterms:created>
  <dcterms:modified xsi:type="dcterms:W3CDTF">2025-12-15T00:43:26Z</dcterms:modified>
</cp:coreProperties>
</file>