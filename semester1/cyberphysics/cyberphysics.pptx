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oppins Light" panose="00000400000000000000" pitchFamily="2" charset="0"/>
      <p:regular r:id="rId15"/>
    </p:embeddedFont>
    <p:embeddedFont>
      <p:font typeface="Roboto Light" panose="02000000000000000000" pitchFamily="2" charset="0"/>
      <p:regular r:id="rId16"/>
      <p: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01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99936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Повышение точности малых моделей детекции объектов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6193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Плугин Олег 22503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484" y="436126"/>
            <a:ext cx="9009936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Повышение точности малых моделей детекции объектов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34484" y="1149906"/>
            <a:ext cx="13361432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Необходимо найти баланс между высокой точностью и эффективным использованием ресурсов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2371" y="1819870"/>
            <a:ext cx="8301157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Постановка задачи: обнаружение объектов на ограниченных ресурсах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2371" y="2355056"/>
            <a:ext cx="13123545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 задачах компьютерного зрения для мобильных и встроенных устройств, критически важно обеспечить высокую точность обнаружения объектов при сохранении скорости работы в реальном времени и минимальных вычислительных затратах.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4484" y="1581983"/>
            <a:ext cx="22860" cy="1458873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634484" y="3377803"/>
            <a:ext cx="4352330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Стандартные ограничения устройств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34484" y="3853458"/>
            <a:ext cx="6487239" cy="1022985"/>
          </a:xfrm>
          <a:prstGeom prst="roundRect">
            <a:avLst>
              <a:gd name="adj" fmla="val 6512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344" y="3876318"/>
            <a:ext cx="634484" cy="977265"/>
          </a:xfrm>
          <a:prstGeom prst="roundRect">
            <a:avLst>
              <a:gd name="adj" fmla="val 6177"/>
            </a:avLst>
          </a:prstGeom>
          <a:solidFill>
            <a:srgbClr val="3D3D4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773" y="4245888"/>
            <a:ext cx="237887" cy="2378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50419" y="4034909"/>
            <a:ext cx="1982748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Процессор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450419" y="4441269"/>
            <a:ext cx="5489853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\color{#FF6B6B}4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-ядерный, тактовая частота </a:t>
            </a:r>
            <a:r>
              <a:rPr lang="en-US" sz="12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\color{#FF6B6B}2.2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ГГц.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4484" y="5035034"/>
            <a:ext cx="6487239" cy="1022985"/>
          </a:xfrm>
          <a:prstGeom prst="roundRect">
            <a:avLst>
              <a:gd name="adj" fmla="val 6512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7344" y="5057894"/>
            <a:ext cx="634484" cy="977265"/>
          </a:xfrm>
          <a:prstGeom prst="roundRect">
            <a:avLst>
              <a:gd name="adj" fmla="val 6177"/>
            </a:avLst>
          </a:prstGeom>
          <a:solidFill>
            <a:srgbClr val="3D3D4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773" y="5427464"/>
            <a:ext cx="237887" cy="2378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50419" y="5216485"/>
            <a:ext cx="2051328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Оперативная память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450419" y="5622846"/>
            <a:ext cx="5489853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До </a:t>
            </a:r>
            <a:r>
              <a:rPr lang="en-US" sz="12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\color{#FF6B6B}4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ГБ ОЗУ.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4484" y="6216610"/>
            <a:ext cx="6487239" cy="1276707"/>
          </a:xfrm>
          <a:prstGeom prst="roundRect">
            <a:avLst>
              <a:gd name="adj" fmla="val 521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7344" y="6239470"/>
            <a:ext cx="634484" cy="1230987"/>
          </a:xfrm>
          <a:prstGeom prst="roundRect">
            <a:avLst>
              <a:gd name="adj" fmla="val 6177"/>
            </a:avLst>
          </a:prstGeom>
          <a:solidFill>
            <a:srgbClr val="3D3D4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773" y="6735961"/>
            <a:ext cx="237887" cy="2378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50419" y="6398062"/>
            <a:ext cx="2367082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Графический процессор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450419" y="6804422"/>
            <a:ext cx="5489853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Обработка изображений размером до </a:t>
            </a:r>
            <a:r>
              <a:rPr lang="en-US" sz="12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\color{#FF6B6B}1920 \times 1080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Оптимизация под мобильные GPU-архитектуры.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516297" y="3377803"/>
            <a:ext cx="460950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Проблема и цель повышения точности</a:t>
            </a:r>
            <a:endParaRPr lang="en-US" sz="1850" dirty="0"/>
          </a:p>
        </p:txBody>
      </p:sp>
      <p:sp>
        <p:nvSpPr>
          <p:cNvPr id="24" name="Text 19"/>
          <p:cNvSpPr/>
          <p:nvPr/>
        </p:nvSpPr>
        <p:spPr>
          <a:xfrm>
            <a:off x="7516297" y="3833693"/>
            <a:ext cx="6487239" cy="76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При приведенных аппаратных ограничениях использование крупных нейронных сетей (например, стандартных версий YOLO или Faster R-CNN) становится невозможным. Требуется упрощение архитектуры: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516297" y="4737616"/>
            <a:ext cx="6487239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Уменьшение числа слоев и их глубины.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516297" y="5046821"/>
            <a:ext cx="6487239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Сокращение количества фильтров (каналов).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516297" y="5356027"/>
            <a:ext cx="6487239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Снижение общего числа обучаемых параметров.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516297" y="5788104"/>
            <a:ext cx="6487239" cy="927735"/>
          </a:xfrm>
          <a:prstGeom prst="roundRect">
            <a:avLst>
              <a:gd name="adj" fmla="val 7181"/>
            </a:avLst>
          </a:prstGeom>
          <a:solidFill>
            <a:srgbClr val="252528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4888" y="6022777"/>
            <a:ext cx="198239" cy="1585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31718" y="5986343"/>
            <a:ext cx="5813227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Основная проблема:</a:t>
            </a:r>
            <a:r>
              <a:rPr lang="en-US" sz="12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Упрощение архитектуры нейронной сети приводит к значительному снижению точности (</a:t>
            </a:r>
            <a:r>
              <a:rPr lang="en-US" sz="1200" i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</a:t>
            </a:r>
            <a:r>
              <a:rPr lang="en-US" sz="12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распознавания.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516297" y="6894195"/>
            <a:ext cx="6487239" cy="76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Ключевой целью является достижение точности, максимально приближенной к исходной, более крупной модели, при существенно меньшем размере панели и более высокой скорости работы.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873" y="482560"/>
            <a:ext cx="3509724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Параметры задачи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701873" y="1272183"/>
            <a:ext cx="13226653" cy="6582966"/>
          </a:xfrm>
          <a:prstGeom prst="roundRect">
            <a:avLst>
              <a:gd name="adj" fmla="val 112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9493" y="1279803"/>
            <a:ext cx="13211413" cy="5064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84992" y="1392674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Категория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32058" y="1392674"/>
            <a:ext cx="369748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Основные параметры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87922" y="1392674"/>
            <a:ext cx="6557605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Влияет на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9493" y="1786295"/>
            <a:ext cx="13211413" cy="109085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84992" y="1899166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Архитектура сети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32058" y="1899166"/>
            <a:ext cx="3697486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количество слоёв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шаг карты признаков (stride feature map)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\color{#4A90E2}feat_{st}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количество фильтров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87922" y="1899166"/>
            <a:ext cx="655760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скорость работы (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\color{#4A90E2}FPS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и точность (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09493" y="2877145"/>
            <a:ext cx="13211413" cy="5141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4992" y="2990017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Входные данные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32058" y="2990017"/>
            <a:ext cx="3697486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размер входного изображения (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\color{#4A90E2}W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\color{#4A90E2}H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87922" y="2990017"/>
            <a:ext cx="6557605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точность распознавания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9493" y="3391257"/>
            <a:ext cx="13211413" cy="8024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84992" y="3504128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Якори (anchors)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32058" y="3504128"/>
            <a:ext cx="3697486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количество якорных рамок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\color{#4A90E2}k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и их размеры (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\color{#4A90E2}w_a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\color{#4A90E2}h_a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87922" y="3504128"/>
            <a:ext cx="655760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качество локализации объектов и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\color{#4A90E2}IoU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09493" y="4193738"/>
            <a:ext cx="13211413" cy="8024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84992" y="4306610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Метрики оценки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32058" y="4306610"/>
            <a:ext cx="3697486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(mean Average Precision)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87922" y="4306610"/>
            <a:ext cx="655760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среднее значение точности по всем классам и порогам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\color{#4A90E2}IoU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Основная метрика для сравнения моделей (ед.: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\color{#4A90E2}\%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9493" y="4996220"/>
            <a:ext cx="13211413" cy="7948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84992" y="5109091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32058" y="5109091"/>
            <a:ext cx="3697486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\color{#4A90E2}Precision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87922" y="5109091"/>
            <a:ext cx="6557605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доля найденных моделью объектов действительно является корректной (ед.: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\color{#4A90E2}\% / 0–1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09493" y="5791081"/>
            <a:ext cx="13211413" cy="5141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84992" y="5903952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132058" y="5903952"/>
            <a:ext cx="3697486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\color{#4A90E2}Recall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87922" y="5903952"/>
            <a:ext cx="655760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доля реальных объектов, найденная моделью (ед.: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\color{#4A90E2}\% / 0–1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09493" y="6305193"/>
            <a:ext cx="13211413" cy="5141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84992" y="6418064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132058" y="6418064"/>
            <a:ext cx="3697486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\color{#4A90E2}IoU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(Intersection over Union)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87922" y="6418064"/>
            <a:ext cx="655760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точность покрытия предсказанными областями исходных (ед.: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\color{#4A90E2}0–1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9493" y="6819305"/>
            <a:ext cx="13211413" cy="5141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84992" y="6932176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132058" y="6932176"/>
            <a:ext cx="3697486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\color{#4A90E2}FPS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(frames per second)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87922" y="6932176"/>
            <a:ext cx="655760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количество обрабатываемых кадров в секунду (ед.: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\color{#4A90E2}\frac{кадры}{сек}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09493" y="7333417"/>
            <a:ext cx="13211413" cy="5141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84992" y="7446288"/>
            <a:ext cx="188868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3132058" y="7446288"/>
            <a:ext cx="3697486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\color{#4A90E2}T_1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187922" y="7446288"/>
            <a:ext cx="655760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время обработки одного кадра (ед.: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\color{#4A90E2}мс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471" y="634960"/>
            <a:ext cx="6421636" cy="44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Формулировка задачи оптимизации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17471" y="1352312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Данную задачу можно представить в виде задачи оптимизации.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7471" y="1841063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Пусть существуют параметры: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7471" y="2329815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ширина входного изображения (пиксели)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7471" y="2679621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высота входного изображения (пиксели)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[2]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7471" y="3029426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количество слоёв нейронной сети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[3]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7471" y="3379232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количество якорных рамок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[4]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7471" y="3867983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Необходимо набрать такой набор параметров </a:t>
            </a:r>
            <a:r>
              <a:rPr lang="en-US" sz="14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\color{#4A90E2}(W, H, n, k)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при котором: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7471" y="4356735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точность </a:t>
            </a: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mAP \to \max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[7]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7471" y="4706541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частота кадров </a:t>
            </a: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FPS \to \max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(т.к. </a:t>
            </a: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FPS = \frac{1}{T_1}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а </a:t>
            </a: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T_1 \to \min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[8]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7471" y="5195292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При выполнении следующих ограничений: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7471" y="5684044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i="1" dirty="0">
                <a:solidFill>
                  <a:srgbClr val="FF6B6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\color{#FF6B6B}n &lt; \color{#FF6B6B}n_{max}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[3]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7471" y="6033849"/>
            <a:ext cx="7709059" cy="57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i="1" dirty="0">
                <a:solidFill>
                  <a:srgbClr val="FF6B6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\color{#FF6B6B}mAP_{raw}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= </a:t>
            </a:r>
            <a:r>
              <a:rPr lang="en-US" sz="1400" i="1" dirty="0">
                <a:solidFill>
                  <a:srgbClr val="FF6B6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\color{#FF6B6B}mAP_{n_0}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</a:t>
            </a:r>
            <a:r>
              <a:rPr lang="en-US" sz="1400" i="1" dirty="0">
                <a:solidFill>
                  <a:srgbClr val="FF6B6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\color{#FF6B6B}\Delta_{raw}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[6]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это нижняя граница </a:t>
            </a: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mAP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при неоптимизированном наборе параметров (</a:t>
            </a: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400" i="1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), где </a:t>
            </a:r>
            <a:r>
              <a:rPr lang="en-US" sz="14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\color{#FF6B6B}\Delta_{raw}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допустимое снижение точности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7471" y="6670715"/>
            <a:ext cx="7709059" cy="57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i="1" dirty="0">
                <a:solidFill>
                  <a:srgbClr val="FF6B6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\color{#FF6B6B}mAP(n) \geq \color{#FF6B6B}mAP_{raw} + \color{#FF6B6B}\Delta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[7]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где </a:t>
            </a:r>
            <a:r>
              <a:rPr lang="en-US" sz="1400" i="1" dirty="0">
                <a:solidFill>
                  <a:srgbClr val="FF6B6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\Delta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желаемый прирост точности в процентах (задается исходя из характеристик задачи)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7471" y="7307580"/>
            <a:ext cx="7709059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i="1" dirty="0">
                <a:solidFill>
                  <a:srgbClr val="FF6B6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\color{#FF6B6B}FPS(W,H,n,k) \geq \color{#FF6B6B}FPS_{min}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[8]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4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[5]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</a:t>
            </a:r>
            <a:r>
              <a:rPr lang="en-US" sz="1400" i="1" dirty="0">
                <a:solidFill>
                  <a:srgbClr val="FF6B6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\color{#FF6B6B}FPS_{min}</a:t>
            </a: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задается исходя из задачи)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2348" y="614482"/>
            <a:ext cx="6386989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Алгоритм повышения точности сети: Архитектура и входные данные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92348" y="1549241"/>
            <a:ext cx="2599015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Анализ архитектуры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92348" y="2133362"/>
            <a:ext cx="775930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Зафиксировать начальное количество слоев как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\color{#4A90E2}n_0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2348" y="2470785"/>
            <a:ext cx="775930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Уменьшить количество слоев до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3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[3]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\color{#FF6B6B}{&lt; n_0}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следующим образом: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2348" y="2808208"/>
            <a:ext cx="7759303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Установить диапазон поиска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 \in [n_{min}; n_{max}]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(изначально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\color{#4A90E2}n_{min} = 5, n_{max} = n_0 - 1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2348" y="3422571"/>
            <a:ext cx="775930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Вычислить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\color{#4A90E2}n_{mid} = (n_{min}+n_{max})/2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2348" y="3759994"/>
            <a:ext cx="775930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Измерить метрики: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\color{#4A90E2}mAP(n_{mid})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\color{#4A90E2}FPS(n_{mid})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3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[7][8]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2348" y="4097417"/>
            <a:ext cx="7759303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При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\color{#FF6B6B}FPS(n_{mid}) \ge FPS_{min}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3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[5]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и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\color{#FF6B6B}mAP(n_{mid})\ge mAP_{raw}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3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[6]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уменьшаем глубину модели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\color{#4A90E2}n_{max} = n_{mid}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2348" y="4711779"/>
            <a:ext cx="775930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Иначе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 = n_{max}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3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[3]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(находим последнее удовлетворяющее значение)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2348" y="5248275"/>
            <a:ext cx="3632835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Изменение входных данных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2348" y="5832396"/>
            <a:ext cx="7759303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Изменить размер входного изображения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\color{#4A90E2}W_n \times H_n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3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[1][2]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по числам, кратным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\color{#FF6B6B}32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(примеры: уменьшение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640 \rightarrow 416 \rightarrow 320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увеличение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416 \rightarrow 512 \rightarrow 640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2348" y="6446758"/>
            <a:ext cx="775930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Оценить изменения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и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\color{#4A90E2}FPS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3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[7][8]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92348" y="6784181"/>
            <a:ext cx="7759303" cy="83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Отметить зависимость: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 \propto f_1(W_n,H_n)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\color{#4A90E2}FPS \propto f_2(W_n,H_n)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(время обработки обратно пропорционально частоте кадров). </a:t>
            </a:r>
            <a:r>
              <a:rPr lang="en-US" sz="13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\color{#4A90E2}f_1, f_2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функции, описывающие зависимость точности и количества кадров от разрешения входного изображения соответственно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005" y="418624"/>
            <a:ext cx="10033397" cy="38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Алгоритм повышения точности сети: Оптимизация якорных рамок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09005" y="1103709"/>
            <a:ext cx="1341239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05" y="1103709"/>
            <a:ext cx="13412391" cy="2715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005" y="1567934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Формула обеспечивает пропорциональное масштабирование якорных рамок под новый размер.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09005" y="2004179"/>
            <a:ext cx="1341239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05" y="2004179"/>
            <a:ext cx="13412391" cy="2715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005" y="2468404"/>
            <a:ext cx="13412391" cy="606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05" y="2468404"/>
            <a:ext cx="13412391" cy="6069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005" y="3268028"/>
            <a:ext cx="1341239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05" y="3268028"/>
            <a:ext cx="13412391" cy="2715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9005" y="3732252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Масштабировать рамки по формуле: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09005" y="4029075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\color{#4A90E2}(w_t, h_t)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граничные рамки исходного значения (пиксели)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09005" y="4325898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\color{#4A90E2}(w_r, h_r)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ремасштабированные рамки (пиксели)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09005" y="4622721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\color{#4A90E2}(W_n, H_n)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исходное разрешение входа сети (пиксели)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09005" y="4919543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\color{#4A90E2}(W_i, H_i)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ширина и высота входного изображения (пиксели)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09005" y="5216366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Провести кластеризацию </a:t>
            </a: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\color{#4A90E2}k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-средних по ширине и высоте рамок: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09005" y="5513189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\color{#4A90E2}(w_c, h_c)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</a:t>
            </a: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\color{#4A90E2}k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центров кластеров, соответствующие усредненным размерам объектов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09005" y="5810012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Найти оптимальное количество кластеров </a:t>
            </a: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\color{#4A90E2}k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1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[4]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с помощью силуэта средних коэффициентов: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09005" y="6106835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Проэкспериментировать со значением </a:t>
            </a: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\color{#4A90E2}k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от 3 до 15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09005" y="6403658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При каждой итерации вычислять средний силуэт по всем точкам: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09005" y="6700480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900"/>
              </a:lnSpc>
              <a:buSzPct val="100000"/>
              <a:buChar char="•"/>
            </a:pP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общее количество элементов, участвующих в кластеризации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09005" y="6997303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900"/>
              </a:lnSpc>
              <a:buSzPct val="100000"/>
              <a:buChar char="•"/>
            </a:pP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\color{#4A90E2}a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среднее внутрикластерное расстояние,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09005" y="7294126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1900"/>
              </a:lnSpc>
              <a:buSzPct val="100000"/>
              <a:buChar char="•"/>
            </a:pP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\color{#4A90E2}b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ближайшее межкластерное расстояние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09005" y="7590949"/>
            <a:ext cx="134123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Максимум среднего </a:t>
            </a: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\color{#4A90E2}\bar{S}(k)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определит оптимальное значение </a:t>
            </a: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\color{#4A90E2}k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644" y="534829"/>
            <a:ext cx="13087112" cy="964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Алгоритм повышения точности сети: Нормализация якорей и оценка результатов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1644" y="1576626"/>
            <a:ext cx="3199209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Нормализация якорей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71644" y="2227659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Нормализуем размеры якорных рамок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1644" y="2780347"/>
            <a:ext cx="13087112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44" y="2780347"/>
            <a:ext cx="13087112" cy="3303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1644" y="3354824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\color{#4A90E2}w_a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\color{#4A90E2}h_a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размеры рамок в масштабе feature map, то есть в тех единицах, с которыми работает последний слой модели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1644" y="3730942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\color{#4A90E2}feat_{st}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=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2^{\color{#4A90E2}n}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- шаг карты признаков, где сеть содержит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слоев max pooling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1644" y="4256603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Это необходимо, чтобы размер якорей соответствовал масштабу признаков на последнем уровне сети.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1644" y="4854535"/>
            <a:ext cx="2893933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Оценка результатов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771644" y="5505569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Измерить метрики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\color{#4A90E2}Precision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\color{#4A90E2}Recall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\color{#4A90E2}FPS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\color{#4A90E2}IoU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1644" y="5881688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Проанализировать зависимости параметров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1644" y="6257806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увеличение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\color{#4A90E2}W_n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\color{#4A90E2}H_n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5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[1][2]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\to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рост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падение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\color{#4A90E2}FPS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1644" y="6633924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уменьшение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\color{#4A90E2}n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5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[3]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\to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рост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\color{#4A90E2}FPS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падение точности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\color{#4A90E2}mAP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1644" y="7010043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увеличение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\color{#4A90E2}k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50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[4]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\to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рост </a:t>
            </a:r>
            <a:r>
              <a:rPr lang="en-US" sz="15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\color{#4A90E2}IoU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1644" y="7386161"/>
            <a:ext cx="130871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Сделать выводы, удовлетворяют ли текущая конфигурация и метрики целевым ограничениям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390" y="566857"/>
            <a:ext cx="3207187" cy="40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Заключение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1390" y="1288375"/>
            <a:ext cx="1334762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Представленный подход позволяет подбирать архитектурные и входные параметры модели под доступные вычислительные ресурсы.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1390" y="1725335"/>
            <a:ext cx="6593681" cy="1226225"/>
          </a:xfrm>
          <a:prstGeom prst="roundRect">
            <a:avLst>
              <a:gd name="adj" fmla="val 894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8530" y="1725335"/>
            <a:ext cx="91440" cy="1226225"/>
          </a:xfrm>
          <a:prstGeom prst="roundRect">
            <a:avLst>
              <a:gd name="adj" fmla="val 73656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893088" y="1908453"/>
            <a:ext cx="2620804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Сопоставимые показатели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3088" y="2255282"/>
            <a:ext cx="6158865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Достижение показателей, сопоставимых с исходной моделью при оптимизации архитектуры.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95329" y="1725335"/>
            <a:ext cx="6593681" cy="1226225"/>
          </a:xfrm>
          <a:prstGeom prst="roundRect">
            <a:avLst>
              <a:gd name="adj" fmla="val 894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72469" y="1725335"/>
            <a:ext cx="91440" cy="1226225"/>
          </a:xfrm>
          <a:prstGeom prst="roundRect">
            <a:avLst>
              <a:gd name="adj" fmla="val 73656"/>
            </a:avLst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7647027" y="1908453"/>
            <a:ext cx="2462332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Эффективность ресурсов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47027" y="2255282"/>
            <a:ext cx="6158865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Значительно меньшая сложность модели, что важно для систем компьютерного зрения, работающих на мобильных и малопроизводительных устройствах.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1390" y="3192066"/>
            <a:ext cx="6241971" cy="40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Пример результатов работы алгоритма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641390" y="3833455"/>
            <a:ext cx="13347621" cy="2434233"/>
          </a:xfrm>
          <a:prstGeom prst="roundRect">
            <a:avLst>
              <a:gd name="adj" fmla="val 276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010" y="3841075"/>
            <a:ext cx="13332381" cy="7208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09863" y="3944898"/>
            <a:ext cx="100881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Модель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46816" y="3944898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 </a:t>
            </a:r>
            <a:r>
              <a:rPr lang="en-US" sz="12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[3]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9959" y="3944898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 </a:t>
            </a:r>
            <a:r>
              <a:rPr lang="en-US" sz="12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[4]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13102" y="3944898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W, H 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(px) </a:t>
            </a:r>
            <a:r>
              <a:rPr lang="en-US" sz="12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[1][2]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46244" y="3944898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Recall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(%)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46087" y="3944898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Precision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(%)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45930" y="3944898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Avg. IoU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(%)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45773" y="3944898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mAP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(%) </a:t>
            </a:r>
            <a:r>
              <a:rPr lang="en-US" sz="12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[7]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545616" y="3944898"/>
            <a:ext cx="1275517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A90E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FPS 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(Кадры/сек) </a:t>
            </a:r>
            <a:r>
              <a:rPr lang="en-US" sz="1250" dirty="0">
                <a:solidFill>
                  <a:srgbClr val="90EE9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[8]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010" y="4561880"/>
            <a:ext cx="13332381" cy="7208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09863" y="4665702"/>
            <a:ext cx="1008817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Базовая модель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46816" y="4665702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79959" y="4665702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13102" y="4665702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416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46244" y="4665702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46087" y="4665702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78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45930" y="4665702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945773" y="4665702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545616" y="4665702"/>
            <a:ext cx="127551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5–20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010" y="5282684"/>
            <a:ext cx="13332381" cy="9773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09863" y="5386507"/>
            <a:ext cx="1008817" cy="769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Оптимизированная модель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146816" y="5386507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479959" y="5386507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13102" y="5386507"/>
            <a:ext cx="10050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608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46244" y="5386507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85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46087" y="5386507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84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345930" y="5386507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82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945773" y="5386507"/>
            <a:ext cx="127170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82.21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2545616" y="5386507"/>
            <a:ext cx="127551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50–100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1390" y="6508194"/>
            <a:ext cx="3207187" cy="40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Источники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641390" y="7149584"/>
            <a:ext cx="13347621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Tarek Teama, Hongbin Ma, Ali Maher, and Mohamed A. Kassab. 2019. Real Time Object Detection Based on Deep Neural Network. In Intelligent Robotics and Applications: 12th International Conference, ICIRA 2019, Shenyang, China, August 8–11, 2019, Proceedings, Part IV. Springer-Verlag, Berlin, Heidelberg, 493–504.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1852</Words>
  <Application>Microsoft Office PowerPoint</Application>
  <PresentationFormat>Произвольный</PresentationFormat>
  <Paragraphs>147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Poppins Light</vt:lpstr>
      <vt:lpstr>Roboto Light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Fukk Sasuke</cp:lastModifiedBy>
  <cp:revision>2</cp:revision>
  <dcterms:created xsi:type="dcterms:W3CDTF">2025-11-24T20:05:02Z</dcterms:created>
  <dcterms:modified xsi:type="dcterms:W3CDTF">2025-11-24T20:11:38Z</dcterms:modified>
</cp:coreProperties>
</file>